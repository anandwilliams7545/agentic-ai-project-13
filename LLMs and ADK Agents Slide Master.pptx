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Williams" userId="13a0b40d24fac4ec" providerId="LiveId" clId="{47BDAF80-53FF-4913-9DCC-6CB4740D2951}"/>
    <pc:docChg chg="modSld">
      <pc:chgData name="Anand Williams" userId="13a0b40d24fac4ec" providerId="LiveId" clId="{47BDAF80-53FF-4913-9DCC-6CB4740D2951}" dt="2026-10-04T17:23:14.870" v="3" actId="20577"/>
      <pc:docMkLst>
        <pc:docMk/>
      </pc:docMkLst>
      <pc:sldChg chg="modSp mod">
        <pc:chgData name="Anand Williams" userId="13a0b40d24fac4ec" providerId="LiveId" clId="{47BDAF80-53FF-4913-9DCC-6CB4740D2951}" dt="2026-10-04T17:23:14.870" v="3" actId="20577"/>
        <pc:sldMkLst>
          <pc:docMk/>
          <pc:sldMk cId="0" sldId="256"/>
        </pc:sldMkLst>
        <pc:spChg chg="mod">
          <ac:chgData name="Anand Williams" userId="13a0b40d24fac4ec" providerId="LiveId" clId="{47BDAF80-53FF-4913-9DCC-6CB4740D2951}" dt="2026-10-04T17:23:14.870" v="3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613719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956619"/>
            <a:ext cx="11430000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9480"/>
            <a:ext cx="655467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94A3B8"/>
                </a:solidFill>
                <a:latin typeface="Times New Roman"/>
              </a:rPr>
              <a:t>Architecting</a:t>
            </a:r>
            <a:r>
              <a:rPr lang="en-IN" sz="2100" b="0" i="0" u="none" dirty="0">
                <a:solidFill>
                  <a:srgbClr val="94A3B8"/>
                </a:solidFill>
                <a:latin typeface="Times New Roman"/>
              </a:rPr>
              <a:t> the</a:t>
            </a:r>
            <a:r>
              <a:rPr sz="2100" b="0" i="0" u="none" dirty="0">
                <a:solidFill>
                  <a:srgbClr val="94A3B8"/>
                </a:solidFill>
                <a:latin typeface="Times New Roman"/>
              </a:rPr>
              <a:t> scalable, autonomous enterprise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24550" y="2657475"/>
            <a:ext cx="5505450" cy="2619375"/>
          </a:xfrm>
          <a:prstGeom prst="roundRect">
            <a:avLst>
              <a:gd name="adj" fmla="val 5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438525"/>
            <a:ext cx="4552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24550" y="2657475"/>
            <a:ext cx="38100" cy="26193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52850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1005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67250"/>
            <a:ext cx="2857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3667125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4124325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4581525"/>
            <a:ext cx="22860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Times New Roman"/>
              </a:rPr>
              <a:t>THE PARADIGM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085850"/>
            <a:ext cx="11430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Times New Roman"/>
              </a:rPr>
              <a:t>Static to Autonomous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255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028950"/>
            <a:ext cx="488061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Times New Roman"/>
              </a:rPr>
              <a:t>Traditional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114675"/>
            <a:ext cx="5772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Agentic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3762375"/>
            <a:ext cx="26649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Times New Roman"/>
              </a:rPr>
              <a:t>Pre-defined logic pathways.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19575"/>
            <a:ext cx="303516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Times New Roman"/>
              </a:rPr>
              <a:t>Fails on unexpected edge cases.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676775"/>
            <a:ext cx="2202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Times New Roman"/>
              </a:rPr>
              <a:t>Rigid API integrations.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850" y="3676650"/>
            <a:ext cx="267462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Dynamic intent reasoning.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0850" y="4133850"/>
            <a:ext cx="318994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Self-correcting execution plans.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0850" y="4591050"/>
            <a:ext cx="25337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Autonomous tool calling.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919412"/>
            <a:ext cx="3352800" cy="209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19600" y="2919412"/>
            <a:ext cx="3352800" cy="209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77200" y="2919412"/>
            <a:ext cx="3352800" cy="209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919412"/>
            <a:ext cx="335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19600" y="2919412"/>
            <a:ext cx="33528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77200" y="2919412"/>
            <a:ext cx="335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14712"/>
            <a:ext cx="3810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414712"/>
            <a:ext cx="3429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414712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Times New Roman"/>
              </a:rPr>
              <a:t>FRAMEWORK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085850"/>
            <a:ext cx="11430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Times New Roman"/>
              </a:rPr>
              <a:t>Google ADK Pillars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255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948112"/>
            <a:ext cx="36004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Developer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357687"/>
            <a:ext cx="342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Python, Go, and JS SDKs.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400" y="3948112"/>
            <a:ext cx="36004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Stateful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4357687"/>
            <a:ext cx="342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Graph-based orchestration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3948112"/>
            <a:ext cx="36004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Production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4357687"/>
            <a:ext cx="342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Deterministic runtime guardrails.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0" y="3643312"/>
            <a:ext cx="1524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0" y="3643312"/>
            <a:ext cx="1524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2000" y="3643312"/>
            <a:ext cx="1524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228975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228975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28975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3228975"/>
            <a:ext cx="609600" cy="609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50" y="3419475"/>
            <a:ext cx="1143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3419475"/>
            <a:ext cx="1524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8562" y="3419475"/>
            <a:ext cx="1428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2275" y="3419475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285750" y="1943100"/>
            <a:ext cx="127635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Times New Roman"/>
              </a:rPr>
              <a:t>Execution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255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4067175"/>
            <a:ext cx="200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imes New Roman"/>
              </a:rPr>
              <a:t>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362450"/>
            <a:ext cx="190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Times New Roman"/>
              </a:rPr>
              <a:t>Parse user intent.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1875" y="4067175"/>
            <a:ext cx="200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B82F6"/>
                </a:solidFill>
                <a:latin typeface="Times New Roman"/>
              </a:rPr>
              <a:t>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500" y="4362450"/>
            <a:ext cx="190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Times New Roman"/>
              </a:rPr>
              <a:t>Select specialized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4067175"/>
            <a:ext cx="200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imes New Roman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0" y="4362450"/>
            <a:ext cx="190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Times New Roman"/>
              </a:rPr>
              <a:t>Call external APIs.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7875" y="4067175"/>
            <a:ext cx="200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Times New Roman"/>
              </a:rPr>
              <a:t>Synthesize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0" y="4362450"/>
            <a:ext cx="190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Times New Roman"/>
              </a:rPr>
              <a:t>Return validated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219325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590925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4962525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638425"/>
            <a:ext cx="4572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010025"/>
            <a:ext cx="4572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381625"/>
            <a:ext cx="4572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Times New Roman"/>
              </a:rPr>
              <a:t>ENTERPRISE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85850"/>
            <a:ext cx="114300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Times New Roman"/>
              </a:rPr>
              <a:t>Zero-Trust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255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524125"/>
            <a:ext cx="325021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Semantic 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57500"/>
            <a:ext cx="309543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imes New Roman"/>
              </a:rPr>
              <a:t>Blocks malicious prompt injections.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95725"/>
            <a:ext cx="319864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Isolated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29100"/>
            <a:ext cx="30463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imes New Roman"/>
              </a:rPr>
              <a:t>Code runs in secure gVisor kernels.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67325"/>
            <a:ext cx="347523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Cryptographic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00700"/>
            <a:ext cx="33097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imes New Roman"/>
              </a:rPr>
              <a:t>Outputs signed before database entry.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20728" y="1752600"/>
            <a:ext cx="4350543" cy="1714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0"/>
              </a:lnSpc>
            </a:pPr>
            <a:r>
              <a:rPr sz="13500" b="1" i="0" u="none">
                <a:solidFill>
                  <a:srgbClr val="3B82F6"/>
                </a:solidFill>
                <a:latin typeface="Times New Roman"/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39250" y="3771900"/>
            <a:ext cx="531335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Times New Roman"/>
              </a:rPr>
              <a:t>Reduction in hallucination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9427" y="4276725"/>
            <a:ext cx="409314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Times New Roman"/>
              </a:rPr>
              <a:t>Driven by deterministic state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865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5380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52550"/>
            <a:ext cx="5486400" cy="3771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809750"/>
            <a:ext cx="3810000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66033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23233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80433"/>
            <a:ext cx="1714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2101155"/>
            <a:ext cx="571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Times New Roman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425005"/>
            <a:ext cx="60007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Times New Roman"/>
              </a:rPr>
              <a:t>Multi-Agent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8255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3232695"/>
            <a:ext cx="36898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Times New Roman"/>
              </a:rPr>
              <a:t>Supervisor delegates specialized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3689895"/>
            <a:ext cx="346955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Times New Roman"/>
              </a:rPr>
              <a:t>Worker agents execute concurrently.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4147095"/>
            <a:ext cx="32797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Times New Roman"/>
              </a:rPr>
              <a:t>State preserved across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700212"/>
            <a:ext cx="5410200" cy="3076575"/>
          </a:xfrm>
          <a:prstGeom prst="roundRect">
            <a:avLst>
              <a:gd name="adj" fmla="val 49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81212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Times New Roman"/>
              </a:rPr>
              <a:t>import { Agent } from 'google-adk';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33637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Times New Roman"/>
              </a:rPr>
              <a:t>const supportAgent = new Agent({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86062"/>
            <a:ext cx="5581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Times New Roman"/>
              </a:rPr>
              <a:t>role: 'Tier 1 Resolution',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38487"/>
            <a:ext cx="5581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Times New Roman"/>
              </a:rPr>
              <a:t>tools: [dbQuery, ticketAPI],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90912"/>
            <a:ext cx="5581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Times New Roman"/>
              </a:rPr>
              <a:t>stateManager: redisStore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3337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Times New Roman"/>
              </a:rPr>
              <a:t>});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95762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0B981"/>
                </a:solidFill>
                <a:latin typeface="Times New Roman"/>
              </a:rPr>
              <a:t>await supportAgent.execute(intent);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261294"/>
            <a:ext cx="5410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Times New Roman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2585144"/>
            <a:ext cx="498062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Times New Roman"/>
              </a:rPr>
              <a:t>Native Developer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895725"/>
            <a:ext cx="54102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Times New Roman"/>
              </a:rPr>
              <a:t>Unified APIs across modern languages.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255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62388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1895475"/>
            <a:ext cx="3352800" cy="3819525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19600" y="1895475"/>
            <a:ext cx="3352800" cy="3819525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1895475"/>
            <a:ext cx="3352800" cy="3819525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62388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285750" y="762000"/>
            <a:ext cx="12763500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Times New Roman"/>
              </a:rPr>
              <a:t>Enterprise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00800"/>
            <a:ext cx="155134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LLMs &amp; ADK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255" y="6400800"/>
            <a:ext cx="6674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Times New Roman"/>
              </a:rPr>
              <a:t>Slide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76475"/>
            <a:ext cx="34004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DevOps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86050"/>
            <a:ext cx="2686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imes New Roman"/>
              </a:rPr>
              <a:t>Autonomous infrastructure remediation.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76475"/>
            <a:ext cx="34004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Data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86050"/>
            <a:ext cx="3238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imes New Roman"/>
              </a:rPr>
              <a:t>Automated pipeline synthesis.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276475"/>
            <a:ext cx="34004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/>
              </a:rPr>
              <a:t>Customer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86050"/>
            <a:ext cx="3238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imes New Roman"/>
              </a:rPr>
              <a:t>Tier-2 resolution engines.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32535" y="3938587"/>
            <a:ext cx="3526928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30502" y="2138362"/>
            <a:ext cx="7330994" cy="704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Times New Roman"/>
              </a:rPr>
              <a:t>Ready for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2329" y="3071812"/>
            <a:ext cx="468734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Times New Roman"/>
              </a:rPr>
              <a:t>Deploy the autonomous enterprise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5075" y="4176712"/>
            <a:ext cx="324184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Times New Roman"/>
              </a:rPr>
              <a:t>npm install google-adk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284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Anand Williams</cp:lastModifiedBy>
  <cp:revision>1</cp:revision>
  <dcterms:created xsi:type="dcterms:W3CDTF">2013-01-27T09:14:16Z</dcterms:created>
  <dcterms:modified xsi:type="dcterms:W3CDTF">2026-10-04T17:23:23Z</dcterms:modified>
  <cp:category/>
</cp:coreProperties>
</file>